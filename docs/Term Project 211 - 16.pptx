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61" r:id="rId10"/>
    <p:sldId id="262" r:id="rId11"/>
    <p:sldId id="270" r:id="rId12"/>
    <p:sldId id="271" r:id="rId13"/>
    <p:sldId id="263" r:id="rId14"/>
    <p:sldId id="264" r:id="rId15"/>
    <p:sldId id="265" r:id="rId16"/>
    <p:sldId id="266" r:id="rId17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Lora" pitchFamily="2" charset="-94"/>
      <p:regular r:id="rId23"/>
      <p:bold r:id="rId24"/>
      <p:italic r:id="rId25"/>
    </p:embeddedFont>
    <p:embeddedFont>
      <p:font typeface="Source Sans 3" panose="020B0604020202020204" charset="0"/>
      <p:regular r:id="rId26"/>
    </p:embeddedFont>
  </p:embeddedFont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833"/>
    <a:srgbClr val="D6E5EF"/>
    <a:srgbClr val="F98A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FAE6BF-7DCB-4FF2-ADA1-6C190B3388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0BD07A9C-9BE6-41BE-9792-21409A095E68}">
      <dgm:prSet/>
      <dgm:spPr>
        <a:solidFill>
          <a:schemeClr val="tx2"/>
        </a:solidFill>
      </dgm:spPr>
      <dgm:t>
        <a:bodyPr/>
        <a:lstStyle/>
        <a:p>
          <a:r>
            <a:rPr lang="en-US" dirty="0"/>
            <a:t>The module constructs the core conflict network by performing a pairwise intersection scan across all course enrollments. If shared students are detected between any two courses, an undirected edge is established within our custom Adjacency List. </a:t>
          </a:r>
          <a:endParaRPr lang="tr-TR" dirty="0"/>
        </a:p>
      </dgm:t>
    </dgm:pt>
    <dgm:pt modelId="{E8453DDA-9F93-4B77-92A7-CB7144366A89}" type="parTrans" cxnId="{87E1E6F8-E02F-4EB9-AEB0-FF5B8CA6C51E}">
      <dgm:prSet/>
      <dgm:spPr/>
      <dgm:t>
        <a:bodyPr/>
        <a:lstStyle/>
        <a:p>
          <a:endParaRPr lang="tr-TR"/>
        </a:p>
      </dgm:t>
    </dgm:pt>
    <dgm:pt modelId="{4536DE4C-77D6-4151-A8E1-AAF1B60F908F}" type="sibTrans" cxnId="{87E1E6F8-E02F-4EB9-AEB0-FF5B8CA6C51E}">
      <dgm:prSet/>
      <dgm:spPr/>
      <dgm:t>
        <a:bodyPr/>
        <a:lstStyle/>
        <a:p>
          <a:endParaRPr lang="tr-TR"/>
        </a:p>
      </dgm:t>
    </dgm:pt>
    <dgm:pt modelId="{72B455DF-8E2A-40B9-AFB6-341F2B0601F0}">
      <dgm:prSet/>
      <dgm:spPr>
        <a:solidFill>
          <a:schemeClr val="tx2"/>
        </a:solidFill>
        <a:ln>
          <a:solidFill>
            <a:schemeClr val="bg1"/>
          </a:solidFill>
        </a:ln>
      </dgm:spPr>
      <dgm:t>
        <a:bodyPr/>
        <a:lstStyle/>
        <a:p>
          <a:r>
            <a:rPr lang="en-US"/>
            <a:t>This sparse graph architecture efficiently maps all scheduling constraints while maintaining an optimal O(V + E) space complexity.</a:t>
          </a:r>
          <a:endParaRPr lang="tr-TR"/>
        </a:p>
      </dgm:t>
    </dgm:pt>
    <dgm:pt modelId="{249D754C-28D3-49E5-8748-B8F539F4E588}" type="parTrans" cxnId="{0F8F0764-E4EC-466D-9D48-F063614C9CF4}">
      <dgm:prSet/>
      <dgm:spPr/>
      <dgm:t>
        <a:bodyPr/>
        <a:lstStyle/>
        <a:p>
          <a:endParaRPr lang="tr-TR"/>
        </a:p>
      </dgm:t>
    </dgm:pt>
    <dgm:pt modelId="{0D28C6F3-9D63-45B3-954A-F64EB7DF743A}" type="sibTrans" cxnId="{0F8F0764-E4EC-466D-9D48-F063614C9CF4}">
      <dgm:prSet/>
      <dgm:spPr/>
      <dgm:t>
        <a:bodyPr/>
        <a:lstStyle/>
        <a:p>
          <a:endParaRPr lang="tr-TR"/>
        </a:p>
      </dgm:t>
    </dgm:pt>
    <dgm:pt modelId="{74D12C45-2D8E-4589-A05E-314EA85EF8CA}" type="pres">
      <dgm:prSet presAssocID="{76FAE6BF-7DCB-4FF2-ADA1-6C190B338892}" presName="linear" presStyleCnt="0">
        <dgm:presLayoutVars>
          <dgm:animLvl val="lvl"/>
          <dgm:resizeHandles val="exact"/>
        </dgm:presLayoutVars>
      </dgm:prSet>
      <dgm:spPr/>
    </dgm:pt>
    <dgm:pt modelId="{81ABD460-66F7-4725-8594-406EF6CAAEAC}" type="pres">
      <dgm:prSet presAssocID="{0BD07A9C-9BE6-41BE-9792-21409A095E6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6299A0E-3243-44A0-843B-770AC8D3F14D}" type="pres">
      <dgm:prSet presAssocID="{4536DE4C-77D6-4151-A8E1-AAF1B60F908F}" presName="spacer" presStyleCnt="0"/>
      <dgm:spPr/>
    </dgm:pt>
    <dgm:pt modelId="{DF8BA0F4-8DE7-48E8-B0C8-954197355421}" type="pres">
      <dgm:prSet presAssocID="{72B455DF-8E2A-40B9-AFB6-341F2B0601F0}" presName="parentText" presStyleLbl="node1" presStyleIdx="1" presStyleCnt="2" custLinFactY="17155" custLinFactNeighborY="100000">
        <dgm:presLayoutVars>
          <dgm:chMax val="0"/>
          <dgm:bulletEnabled val="1"/>
        </dgm:presLayoutVars>
      </dgm:prSet>
      <dgm:spPr/>
    </dgm:pt>
  </dgm:ptLst>
  <dgm:cxnLst>
    <dgm:cxn modelId="{0F8F0764-E4EC-466D-9D48-F063614C9CF4}" srcId="{76FAE6BF-7DCB-4FF2-ADA1-6C190B338892}" destId="{72B455DF-8E2A-40B9-AFB6-341F2B0601F0}" srcOrd="1" destOrd="0" parTransId="{249D754C-28D3-49E5-8748-B8F539F4E588}" sibTransId="{0D28C6F3-9D63-45B3-954A-F64EB7DF743A}"/>
    <dgm:cxn modelId="{13F9714F-0F0C-4E5C-AE59-B33C92BD9B1B}" type="presOf" srcId="{0BD07A9C-9BE6-41BE-9792-21409A095E68}" destId="{81ABD460-66F7-4725-8594-406EF6CAAEAC}" srcOrd="0" destOrd="0" presId="urn:microsoft.com/office/officeart/2005/8/layout/vList2"/>
    <dgm:cxn modelId="{37B9F7C7-7749-4035-9B9A-CF88F8BBDE1C}" type="presOf" srcId="{76FAE6BF-7DCB-4FF2-ADA1-6C190B338892}" destId="{74D12C45-2D8E-4589-A05E-314EA85EF8CA}" srcOrd="0" destOrd="0" presId="urn:microsoft.com/office/officeart/2005/8/layout/vList2"/>
    <dgm:cxn modelId="{1CEF14E0-A94A-4793-B85C-D92F31C147B1}" type="presOf" srcId="{72B455DF-8E2A-40B9-AFB6-341F2B0601F0}" destId="{DF8BA0F4-8DE7-48E8-B0C8-954197355421}" srcOrd="0" destOrd="0" presId="urn:microsoft.com/office/officeart/2005/8/layout/vList2"/>
    <dgm:cxn modelId="{87E1E6F8-E02F-4EB9-AEB0-FF5B8CA6C51E}" srcId="{76FAE6BF-7DCB-4FF2-ADA1-6C190B338892}" destId="{0BD07A9C-9BE6-41BE-9792-21409A095E68}" srcOrd="0" destOrd="0" parTransId="{E8453DDA-9F93-4B77-92A7-CB7144366A89}" sibTransId="{4536DE4C-77D6-4151-A8E1-AAF1B60F908F}"/>
    <dgm:cxn modelId="{A1319065-3EBF-4F71-8FFE-E65CA67C5A71}" type="presParOf" srcId="{74D12C45-2D8E-4589-A05E-314EA85EF8CA}" destId="{81ABD460-66F7-4725-8594-406EF6CAAEAC}" srcOrd="0" destOrd="0" presId="urn:microsoft.com/office/officeart/2005/8/layout/vList2"/>
    <dgm:cxn modelId="{67ACEE8B-E28C-47AE-85B9-9C8C984535B4}" type="presParOf" srcId="{74D12C45-2D8E-4589-A05E-314EA85EF8CA}" destId="{16299A0E-3243-44A0-843B-770AC8D3F14D}" srcOrd="1" destOrd="0" presId="urn:microsoft.com/office/officeart/2005/8/layout/vList2"/>
    <dgm:cxn modelId="{1DF25120-1712-4D28-9321-52DCFF70DF08}" type="presParOf" srcId="{74D12C45-2D8E-4589-A05E-314EA85EF8CA}" destId="{DF8BA0F4-8DE7-48E8-B0C8-95419735542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0AD397-800B-4C51-87EC-1954054D3BD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9951F7DC-4E1E-4C53-9A99-62178916A1C8}">
      <dgm:prSet/>
      <dgm:spPr>
        <a:solidFill>
          <a:schemeClr val="tx2"/>
        </a:solidFill>
      </dgm:spPr>
      <dgm:t>
        <a:bodyPr/>
        <a:lstStyle/>
        <a:p>
          <a:pPr algn="l"/>
          <a:r>
            <a:rPr lang="en-US" dirty="0"/>
            <a:t>To generate a conflict-free exam schedule, we implemented the Welsh-Powell heuristic. The algorithm first sorts all vertices by their conflict degree using our custom </a:t>
          </a:r>
          <a:r>
            <a:rPr lang="en-US" dirty="0" err="1"/>
            <a:t>DynamicArray</a:t>
          </a:r>
          <a:r>
            <a:rPr lang="en-US" dirty="0"/>
            <a:t>. It then sequentially assigns the earliest available time slot (color) to non-adjacent vertices. This greedy approach successfully resolves all overlaps while minimizing the total number of required exam sessions.</a:t>
          </a:r>
          <a:endParaRPr lang="tr-TR" dirty="0"/>
        </a:p>
      </dgm:t>
    </dgm:pt>
    <dgm:pt modelId="{EB8AD430-B38C-4377-9351-21280A6EE433}" type="parTrans" cxnId="{A568709D-0271-4974-B846-6A3440493070}">
      <dgm:prSet/>
      <dgm:spPr/>
      <dgm:t>
        <a:bodyPr/>
        <a:lstStyle/>
        <a:p>
          <a:endParaRPr lang="tr-TR"/>
        </a:p>
      </dgm:t>
    </dgm:pt>
    <dgm:pt modelId="{AB7274E4-83B7-4582-8CAC-11875730CAC3}" type="sibTrans" cxnId="{A568709D-0271-4974-B846-6A3440493070}">
      <dgm:prSet/>
      <dgm:spPr/>
      <dgm:t>
        <a:bodyPr/>
        <a:lstStyle/>
        <a:p>
          <a:endParaRPr lang="tr-TR"/>
        </a:p>
      </dgm:t>
    </dgm:pt>
    <dgm:pt modelId="{209046C7-ED3C-4E4A-B3A2-4A5ED3403776}" type="pres">
      <dgm:prSet presAssocID="{8E0AD397-800B-4C51-87EC-1954054D3BD5}" presName="Name0" presStyleCnt="0">
        <dgm:presLayoutVars>
          <dgm:dir/>
          <dgm:animLvl val="lvl"/>
          <dgm:resizeHandles val="exact"/>
        </dgm:presLayoutVars>
      </dgm:prSet>
      <dgm:spPr/>
    </dgm:pt>
    <dgm:pt modelId="{538B2A3B-ED91-4876-96B3-6BF513070EB2}" type="pres">
      <dgm:prSet presAssocID="{9951F7DC-4E1E-4C53-9A99-62178916A1C8}" presName="linNode" presStyleCnt="0"/>
      <dgm:spPr/>
    </dgm:pt>
    <dgm:pt modelId="{9AECB534-418D-45A0-B0ED-7ED5C71D5FF4}" type="pres">
      <dgm:prSet presAssocID="{9951F7DC-4E1E-4C53-9A99-62178916A1C8}" presName="parentText" presStyleLbl="node1" presStyleIdx="0" presStyleCnt="1" custScaleX="183127" custLinFactNeighborX="-3809" custLinFactNeighborY="0">
        <dgm:presLayoutVars>
          <dgm:chMax val="1"/>
          <dgm:bulletEnabled val="1"/>
        </dgm:presLayoutVars>
      </dgm:prSet>
      <dgm:spPr/>
    </dgm:pt>
  </dgm:ptLst>
  <dgm:cxnLst>
    <dgm:cxn modelId="{A568709D-0271-4974-B846-6A3440493070}" srcId="{8E0AD397-800B-4C51-87EC-1954054D3BD5}" destId="{9951F7DC-4E1E-4C53-9A99-62178916A1C8}" srcOrd="0" destOrd="0" parTransId="{EB8AD430-B38C-4377-9351-21280A6EE433}" sibTransId="{AB7274E4-83B7-4582-8CAC-11875730CAC3}"/>
    <dgm:cxn modelId="{CE3A63AC-4D8E-4D9B-865A-3B32A3341E64}" type="presOf" srcId="{9951F7DC-4E1E-4C53-9A99-62178916A1C8}" destId="{9AECB534-418D-45A0-B0ED-7ED5C71D5FF4}" srcOrd="0" destOrd="0" presId="urn:microsoft.com/office/officeart/2005/8/layout/vList5"/>
    <dgm:cxn modelId="{1748D4E8-474E-4AE6-B2A3-E48878120679}" type="presOf" srcId="{8E0AD397-800B-4C51-87EC-1954054D3BD5}" destId="{209046C7-ED3C-4E4A-B3A2-4A5ED3403776}" srcOrd="0" destOrd="0" presId="urn:microsoft.com/office/officeart/2005/8/layout/vList5"/>
    <dgm:cxn modelId="{57217E4D-2690-445A-8EB6-38E48457C46D}" type="presParOf" srcId="{209046C7-ED3C-4E4A-B3A2-4A5ED3403776}" destId="{538B2A3B-ED91-4876-96B3-6BF513070EB2}" srcOrd="0" destOrd="0" presId="urn:microsoft.com/office/officeart/2005/8/layout/vList5"/>
    <dgm:cxn modelId="{53F5AC21-D04C-4E6D-9CB4-73B205F419C6}" type="presParOf" srcId="{538B2A3B-ED91-4876-96B3-6BF513070EB2}" destId="{9AECB534-418D-45A0-B0ED-7ED5C71D5FF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ABD460-66F7-4725-8594-406EF6CAAEAC}">
      <dsp:nvSpPr>
        <dsp:cNvPr id="0" name=""/>
        <dsp:cNvSpPr/>
      </dsp:nvSpPr>
      <dsp:spPr>
        <a:xfrm>
          <a:off x="0" y="282588"/>
          <a:ext cx="3403927" cy="1038959"/>
        </a:xfrm>
        <a:prstGeom prst="roundRect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module constructs the core conflict network by performing a pairwise intersection scan across all course enrollments. If shared students are detected between any two courses, an undirected edge is established within our custom Adjacency List. </a:t>
          </a:r>
          <a:endParaRPr lang="tr-TR" sz="1200" kern="1200" dirty="0"/>
        </a:p>
      </dsp:txBody>
      <dsp:txXfrm>
        <a:off x="50718" y="333306"/>
        <a:ext cx="3302491" cy="937523"/>
      </dsp:txXfrm>
    </dsp:sp>
    <dsp:sp modelId="{DF8BA0F4-8DE7-48E8-B0C8-954197355421}">
      <dsp:nvSpPr>
        <dsp:cNvPr id="0" name=""/>
        <dsp:cNvSpPr/>
      </dsp:nvSpPr>
      <dsp:spPr>
        <a:xfrm>
          <a:off x="0" y="1568901"/>
          <a:ext cx="3403927" cy="1038959"/>
        </a:xfrm>
        <a:prstGeom prst="roundRect">
          <a:avLst/>
        </a:prstGeom>
        <a:solidFill>
          <a:schemeClr val="tx2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sparse graph architecture efficiently maps all scheduling constraints while maintaining an optimal O(V + E) space complexity.</a:t>
          </a:r>
          <a:endParaRPr lang="tr-TR" sz="1200" kern="1200"/>
        </a:p>
      </dsp:txBody>
      <dsp:txXfrm>
        <a:off x="50718" y="1619619"/>
        <a:ext cx="3302491" cy="9375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ECB534-418D-45A0-B0ED-7ED5C71D5FF4}">
      <dsp:nvSpPr>
        <dsp:cNvPr id="0" name=""/>
        <dsp:cNvSpPr/>
      </dsp:nvSpPr>
      <dsp:spPr>
        <a:xfrm>
          <a:off x="687571" y="0"/>
          <a:ext cx="2893457" cy="3545513"/>
        </a:xfrm>
        <a:prstGeom prst="roundRect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To generate a conflict-free exam schedule, we implemented the Welsh-Powell heuristic. The algorithm first sorts all vertices by their conflict degree using our custom </a:t>
          </a:r>
          <a:r>
            <a:rPr lang="en-US" sz="1500" kern="1200" dirty="0" err="1"/>
            <a:t>DynamicArray</a:t>
          </a:r>
          <a:r>
            <a:rPr lang="en-US" sz="1500" kern="1200" dirty="0"/>
            <a:t>. It then sequentially assigns the earliest available time slot (color) to non-adjacent vertices. This greedy approach successfully resolves all overlaps while minimizing the total number of required exam sessions.</a:t>
          </a:r>
          <a:endParaRPr lang="tr-TR" sz="1500" kern="1200" dirty="0"/>
        </a:p>
      </dsp:txBody>
      <dsp:txXfrm>
        <a:off x="828818" y="141247"/>
        <a:ext cx="2610963" cy="32630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35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9677" y="622937"/>
            <a:ext cx="8224242" cy="1744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Automated Exam Scheduling</a:t>
            </a:r>
            <a:endParaRPr lang="en-US" sz="48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4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and Room Allocation System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458167" y="2691631"/>
            <a:ext cx="8684865" cy="245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CSE 211 Data Structures - Term Project (PROJ-16)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8167" y="3098527"/>
            <a:ext cx="8227665" cy="9748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458167" y="3312691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8167" y="3676948"/>
            <a:ext cx="2666181" cy="486668"/>
          </a:xfrm>
          <a:prstGeom prst="roundRect">
            <a:avLst>
              <a:gd name="adj" fmla="val 4035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603349" y="3822129"/>
            <a:ext cx="237581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Serkan Can Erdem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38872" y="3676948"/>
            <a:ext cx="2666181" cy="486668"/>
          </a:xfrm>
          <a:prstGeom prst="roundRect">
            <a:avLst>
              <a:gd name="adj" fmla="val 4035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3384054" y="3822129"/>
            <a:ext cx="237581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Mert Deha Karayel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19577" y="3676948"/>
            <a:ext cx="2666256" cy="486668"/>
          </a:xfrm>
          <a:prstGeom prst="roundRect">
            <a:avLst>
              <a:gd name="adj" fmla="val 4035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6164759" y="3822129"/>
            <a:ext cx="2375892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Selin Yaslan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07591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 Project Overview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27" y="1871960"/>
            <a:ext cx="2618259" cy="2063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350" y="2040582"/>
            <a:ext cx="220481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 &amp; Objectives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49350" y="2570262"/>
            <a:ext cx="220481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University exam scheduling suffers from time conflicts and inefficient room capacities. The objective is to achieve a zero-conflict schedule with optimal room allocation.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3308" y="1871960"/>
            <a:ext cx="2618259" cy="20638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8131" y="204058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8131" y="2350294"/>
            <a:ext cx="220481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conflict graph generation, heuristic time-slot coloring, capacity-aware bin packing, and responsive HTML timetable generation.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2089" y="1871960"/>
            <a:ext cx="2618333" cy="20638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6912" y="2040582"/>
            <a:ext cx="219789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Technologies &amp; Tools Used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46912" y="2350294"/>
            <a:ext cx="2204889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C++, strictly raw pointers (STL completely banned), JSON for data modeling, HTML/CSS for presentation, and Makefile for the build system.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2074" y="302791"/>
            <a:ext cx="3013844" cy="3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 System Architecture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074" y="711324"/>
            <a:ext cx="514276" cy="6171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17043" y="814164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JSON Parsing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074" y="1328440"/>
            <a:ext cx="514276" cy="6171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17043" y="1431280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In-Memory Objects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074" y="1945556"/>
            <a:ext cx="514276" cy="6171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17043" y="2048396"/>
            <a:ext cx="1423392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Conflict Graph Detection</a:t>
            </a:r>
            <a:endParaRPr lang="en-US" sz="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2074" y="2562671"/>
            <a:ext cx="514276" cy="61711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817043" y="2665512"/>
            <a:ext cx="1562100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Graph Coloring (Time Slots)</a:t>
            </a:r>
            <a:endParaRPr lang="en-US" sz="9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2074" y="3179787"/>
            <a:ext cx="514276" cy="61711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817043" y="3282628"/>
            <a:ext cx="1673572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Bin Packing (Room Allocation)</a:t>
            </a:r>
            <a:endParaRPr lang="en-US" sz="9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2074" y="3796903"/>
            <a:ext cx="514276" cy="61711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817043" y="3899743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HTML Output</a:t>
            </a:r>
            <a:endParaRPr lang="en-US" sz="950" dirty="0"/>
          </a:p>
        </p:txBody>
      </p:sp>
      <p:sp>
        <p:nvSpPr>
          <p:cNvPr id="15" name="Text 7"/>
          <p:cNvSpPr/>
          <p:nvPr/>
        </p:nvSpPr>
        <p:spPr>
          <a:xfrm>
            <a:off x="1232074" y="4493568"/>
            <a:ext cx="6679778" cy="347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Divided into </a:t>
            </a: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(Parser, Graph, Scheduler) and </a:t>
            </a: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data_structures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(DynamicArray, HashMap, LinkedList) to ensure strict modularity.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48717"/>
            <a:ext cx="7749853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 Data Structures (Part 1 - Implementations)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713086"/>
            <a:ext cx="8096845" cy="886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 Data Structures Implemented: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DynamicArray, LinkedList, and HashMap.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Each Was Chosen: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2767757"/>
            <a:ext cx="2599209" cy="1327026"/>
          </a:xfrm>
          <a:prstGeom prst="roundRect">
            <a:avLst>
              <a:gd name="adj" fmla="val 1691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73150" y="291732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DynamicArray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3150" y="3227040"/>
            <a:ext cx="23000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Chosen to replace 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std::vector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provide contiguous memory and 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O(1)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amortized insertion.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72358" y="2767757"/>
            <a:ext cx="2599209" cy="1327026"/>
          </a:xfrm>
          <a:prstGeom prst="roundRect">
            <a:avLst>
              <a:gd name="adj" fmla="val 1691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421931" y="291732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LinkedList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21931" y="3227040"/>
            <a:ext cx="23000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Handles chaining in hash maps perfectly with 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O(1)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head insertion, preventing memory fragmentation.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21139" y="2767757"/>
            <a:ext cx="2599283" cy="1327026"/>
          </a:xfrm>
          <a:prstGeom prst="roundRect">
            <a:avLst>
              <a:gd name="adj" fmla="val 1691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170712" y="291732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HashMap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0712" y="3227040"/>
            <a:ext cx="230013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Replaces 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std::map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Chosen over tree structures for 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O(1)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average-case key lookups (e.g., finding Course IDs).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8282B07-6AA7-28F1-2DFB-7A272CBEC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24" y="1396721"/>
            <a:ext cx="6051521" cy="2972895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39E71BDE-2ED5-152F-C4E0-08B8BCDDE12B}"/>
              </a:ext>
            </a:extLst>
          </p:cNvPr>
          <p:cNvSpPr txBox="1"/>
          <p:nvPr/>
        </p:nvSpPr>
        <p:spPr>
          <a:xfrm>
            <a:off x="160774" y="653757"/>
            <a:ext cx="9144000" cy="1086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 </a:t>
            </a:r>
            <a:r>
              <a:rPr lang="tr-TR" sz="275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</a:t>
            </a:r>
            <a:r>
              <a:rPr lang="tr-TR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tr-TR" sz="275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DynamicArray</a:t>
            </a:r>
            <a:r>
              <a:rPr lang="tr-TR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tr-TR" sz="275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Implementation</a:t>
            </a:r>
            <a:endParaRPr lang="en-US" sz="2750" dirty="0"/>
          </a:p>
          <a:p>
            <a:br>
              <a:rPr lang="tr-TR" dirty="0"/>
            </a:br>
            <a:endParaRPr lang="tr-TR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240717F-03F7-22B2-3DFE-527DC2040925}"/>
              </a:ext>
            </a:extLst>
          </p:cNvPr>
          <p:cNvSpPr txBox="1"/>
          <p:nvPr/>
        </p:nvSpPr>
        <p:spPr>
          <a:xfrm>
            <a:off x="89915" y="1937924"/>
            <a:ext cx="305436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D6E5EF"/>
                </a:solidFill>
                <a:effectLst/>
                <a:latin typeface="Source Sans 3" panose="020B0604020202020204" charset="0"/>
              </a:rPr>
              <a:t>An index-based contiguous block of memory holding pointers</a:t>
            </a:r>
            <a:r>
              <a:rPr lang="tr-TR" sz="1400" b="0" i="0" dirty="0">
                <a:solidFill>
                  <a:srgbClr val="D6E5EF"/>
                </a:solidFill>
                <a:effectLst/>
                <a:latin typeface="Source Sans 3" panose="020B0604020202020204" charset="0"/>
              </a:rPr>
              <a:t> (Course*). </a:t>
            </a:r>
            <a:r>
              <a:rPr lang="en-US" sz="1400" b="0" i="0" dirty="0">
                <a:solidFill>
                  <a:srgbClr val="D6E5EF"/>
                </a:solidFill>
                <a:effectLst/>
                <a:latin typeface="Source Sans 3" panose="020B0604020202020204" charset="0"/>
              </a:rPr>
              <a:t>By storing pointers instead of raw structures, we keep cell sizes uniform, allow instant index calculations, and defer actual heap allocation of the heavy Course structures.</a:t>
            </a:r>
            <a:endParaRPr lang="tr-TR" sz="1400" dirty="0">
              <a:solidFill>
                <a:srgbClr val="D6E5EF"/>
              </a:solidFill>
              <a:latin typeface="Source Sans 3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413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031C8EA-8420-855A-791A-07060397C139}"/>
              </a:ext>
            </a:extLst>
          </p:cNvPr>
          <p:cNvSpPr txBox="1"/>
          <p:nvPr/>
        </p:nvSpPr>
        <p:spPr>
          <a:xfrm>
            <a:off x="97269" y="568955"/>
            <a:ext cx="8735232" cy="513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 </a:t>
            </a:r>
            <a:r>
              <a:rPr lang="tr-TR" sz="2750" dirty="0" err="1">
                <a:solidFill>
                  <a:srgbClr val="F98AC7"/>
                </a:solidFill>
                <a:latin typeface="Lora" pitchFamily="34" charset="0"/>
              </a:rPr>
              <a:t>Custom</a:t>
            </a:r>
            <a:r>
              <a:rPr lang="tr-TR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tr-TR" sz="275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HashMap</a:t>
            </a:r>
            <a:r>
              <a:rPr lang="tr-TR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tr-TR" sz="275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with</a:t>
            </a:r>
            <a:r>
              <a:rPr lang="tr-TR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tr-TR" sz="275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LinkedList</a:t>
            </a:r>
            <a:r>
              <a:rPr lang="tr-TR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tr-TR" sz="275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Chaining</a:t>
            </a:r>
            <a:endParaRPr lang="en-US" sz="2750" dirty="0">
              <a:solidFill>
                <a:srgbClr val="F98AC7"/>
              </a:solidFill>
              <a:latin typeface="Lora" pitchFamily="34" charset="0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470DDD4-EAC9-0C56-70B8-977034C85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928" y="1326384"/>
            <a:ext cx="6362072" cy="3131280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3E6E944C-4485-9605-4FC8-265598DA252E}"/>
              </a:ext>
            </a:extLst>
          </p:cNvPr>
          <p:cNvSpPr txBox="1"/>
          <p:nvPr/>
        </p:nvSpPr>
        <p:spPr>
          <a:xfrm>
            <a:off x="97269" y="1983811"/>
            <a:ext cx="2797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D6E5EF"/>
                </a:solidFill>
                <a:effectLst/>
                <a:latin typeface="Source Sans 3" panose="020B0604020202020204" charset="0"/>
              </a:rPr>
              <a:t>To resolve hash collisions manually, we implement separate chaining. The main table is an array of buckets, where each bucket holds a pointer to the head of a Singly LinkedList of key-value pair nodes</a:t>
            </a:r>
            <a:r>
              <a:rPr lang="tr-TR" sz="1400" b="0" i="0" dirty="0">
                <a:solidFill>
                  <a:srgbClr val="D6E5EF"/>
                </a:solidFill>
                <a:effectLst/>
                <a:latin typeface="Source Sans 3" panose="020B0604020202020204" charset="0"/>
              </a:rPr>
              <a:t> (</a:t>
            </a:r>
            <a:r>
              <a:rPr lang="tr-TR" sz="1400" b="0" i="0" dirty="0" err="1">
                <a:solidFill>
                  <a:srgbClr val="D6E5EF"/>
                </a:solidFill>
                <a:effectLst/>
                <a:latin typeface="Source Sans 3" panose="020B0604020202020204" charset="0"/>
              </a:rPr>
              <a:t>HashNode</a:t>
            </a:r>
            <a:r>
              <a:rPr lang="tr-TR" sz="1400" b="0" i="0" dirty="0">
                <a:solidFill>
                  <a:srgbClr val="D6E5EF"/>
                </a:solidFill>
                <a:effectLst/>
                <a:latin typeface="Source Sans 3" panose="020B0604020202020204" charset="0"/>
              </a:rPr>
              <a:t>).</a:t>
            </a:r>
            <a:endParaRPr lang="tr-TR" sz="1400" dirty="0">
              <a:solidFill>
                <a:srgbClr val="D6E5EF"/>
              </a:solidFill>
              <a:latin typeface="Source Sans 3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446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D15C44F-8263-67F5-8327-705A7EC0EB75}"/>
              </a:ext>
            </a:extLst>
          </p:cNvPr>
          <p:cNvSpPr txBox="1"/>
          <p:nvPr/>
        </p:nvSpPr>
        <p:spPr>
          <a:xfrm>
            <a:off x="216039" y="717150"/>
            <a:ext cx="7139354" cy="5130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r-TR"/>
            </a:defPPr>
            <a:lvl1pPr indent="0">
              <a:lnSpc>
                <a:spcPct val="104000"/>
              </a:lnSpc>
              <a:buNone/>
              <a:defRPr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defRPr>
            </a:lvl1pPr>
          </a:lstStyle>
          <a:p>
            <a:r>
              <a:rPr lang="en-US" sz="2750" dirty="0"/>
              <a:t>3. </a:t>
            </a:r>
            <a:r>
              <a:rPr lang="tr-TR" sz="2750" dirty="0" err="1"/>
              <a:t>Custom</a:t>
            </a:r>
            <a:r>
              <a:rPr lang="tr-TR" sz="2750" dirty="0"/>
              <a:t> </a:t>
            </a:r>
            <a:r>
              <a:rPr lang="tr-TR" sz="2750" dirty="0" err="1"/>
              <a:t>Adjacency</a:t>
            </a:r>
            <a:r>
              <a:rPr lang="tr-TR" sz="2750" dirty="0"/>
              <a:t> </a:t>
            </a:r>
            <a:r>
              <a:rPr lang="tr-TR" sz="2750" dirty="0" err="1"/>
              <a:t>List</a:t>
            </a:r>
            <a:r>
              <a:rPr lang="tr-TR" sz="2750" dirty="0"/>
              <a:t> </a:t>
            </a:r>
            <a:r>
              <a:rPr lang="tr-TR" sz="2750" dirty="0" err="1"/>
              <a:t>Graph</a:t>
            </a:r>
            <a:endParaRPr lang="en-US" sz="275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A07A62A3-AB7A-9481-F77D-51C710ED4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07" y="1751219"/>
            <a:ext cx="6236878" cy="2507115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9115AB49-0C37-DD02-CBB6-12AF16EAF63E}"/>
              </a:ext>
            </a:extLst>
          </p:cNvPr>
          <p:cNvSpPr txBox="1"/>
          <p:nvPr/>
        </p:nvSpPr>
        <p:spPr>
          <a:xfrm>
            <a:off x="136515" y="2006401"/>
            <a:ext cx="263409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D6E5EF"/>
                </a:solidFill>
                <a:effectLst/>
                <a:latin typeface="Source Sans 3" panose="020B0604020202020204" charset="0"/>
              </a:rPr>
              <a:t>This structure detects schedule overlaps. A Course Vertex maps to an internal Adjacency structure which maintains a singly-linked chain representing conflicts. It maps each Course ID to its directly conflicting neighbor Course IDs.</a:t>
            </a:r>
            <a:endParaRPr lang="tr-TR" sz="1400" dirty="0">
              <a:solidFill>
                <a:srgbClr val="D6E5EF"/>
              </a:solidFill>
              <a:latin typeface="Source Sans 3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25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353" y="378693"/>
            <a:ext cx="1439763" cy="241176"/>
          </a:xfrm>
          <a:prstGeom prst="roundRect">
            <a:avLst>
              <a:gd name="adj" fmla="val 6630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6274" y="418654"/>
            <a:ext cx="1737122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STRUCTURES — PART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6353" y="667271"/>
            <a:ext cx="7499226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 Data Structures (Part 2 - Graph &amp; Complexity)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66353" y="1355750"/>
            <a:ext cx="20248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 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53" y="1670298"/>
            <a:ext cx="4400327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Adjacency List Graph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53" y="2040731"/>
            <a:ext cx="20248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Chosen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53" y="2355279"/>
            <a:ext cx="3943127" cy="755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University course conflicts form a </a:t>
            </a: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sparse</a:t>
            </a: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graph. An Adjacency Matrix would waste massive memory. An Adjacency List reduces the footprint drastically.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53" y="3229347"/>
            <a:ext cx="311385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 and Space Complexity Analysis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53" y="3543895"/>
            <a:ext cx="3943127" cy="1114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Space Complexity of Graph:</a:t>
            </a:r>
            <a:endParaRPr lang="en-US" sz="1300" dirty="0"/>
          </a:p>
          <a:p>
            <a:pPr marL="0" indent="0" algn="l">
              <a:lnSpc>
                <a:spcPct val="12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O(V + E) where V is courses and E is conflict edges.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Space Complexity of HashMap: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O(B + N) where B is buckets and N is mapped nodes.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39283" y="2874987"/>
            <a:ext cx="4400327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55" y="370880"/>
            <a:ext cx="7894290" cy="71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4. Module Implementation &amp; Key Algorithms - Conflict Resolution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855" y="1234083"/>
            <a:ext cx="7894290" cy="7293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1096" y="1484784"/>
            <a:ext cx="182314" cy="227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24111" y="1369888"/>
            <a:ext cx="14300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Function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24111" y="1607865"/>
            <a:ext cx="715922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Conflict Resolution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855" y="2062163"/>
            <a:ext cx="7894290" cy="9213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1096" y="2408932"/>
            <a:ext cx="182314" cy="227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24111" y="2197968"/>
            <a:ext cx="14300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Algorithm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24111" y="2435944"/>
            <a:ext cx="7159228" cy="411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450"/>
              </a:spcAft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Welsh-Powell Graph Coloring Heuristic</a:t>
            </a:r>
            <a:endParaRPr lang="en-US" sz="9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Sorts courses by connection degree (descending) and assigns the lowest available, non-conflicting time slot (color).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855" y="3082305"/>
            <a:ext cx="7894290" cy="86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1096" y="3399458"/>
            <a:ext cx="182314" cy="227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224111" y="3218111"/>
            <a:ext cx="14300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 Decision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24111" y="3456087"/>
            <a:ext cx="7159228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Exact backtracking algorithms are too slow for large datasets. A greedy heuristic like Welsh-Powell provides excellent results in acceptable time.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855" y="4043214"/>
            <a:ext cx="7894290" cy="7293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1096" y="4293915"/>
            <a:ext cx="182314" cy="227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224111" y="4179019"/>
            <a:ext cx="1462683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Algorithm Complexity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224111" y="4416996"/>
            <a:ext cx="715922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O(V² + E)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7CAF44F8-9440-32B0-210F-2506524412B1}"/>
              </a:ext>
            </a:extLst>
          </p:cNvPr>
          <p:cNvSpPr txBox="1"/>
          <p:nvPr/>
        </p:nvSpPr>
        <p:spPr>
          <a:xfrm>
            <a:off x="761017" y="202799"/>
            <a:ext cx="4041058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4. </a:t>
            </a:r>
            <a:r>
              <a:rPr lang="tr-TR" sz="23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Conflict</a:t>
            </a:r>
            <a:r>
              <a:rPr lang="tr-TR" sz="2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tr-TR" sz="23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Graph</a:t>
            </a:r>
            <a:r>
              <a:rPr lang="tr-TR" sz="2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tr-TR" sz="23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Algorithm</a:t>
            </a:r>
            <a:endParaRPr lang="en-US" sz="2300" dirty="0"/>
          </a:p>
          <a:p>
            <a:endParaRPr lang="tr-TR" dirty="0"/>
          </a:p>
        </p:txBody>
      </p:sp>
      <p:graphicFrame>
        <p:nvGraphicFramePr>
          <p:cNvPr id="9" name="Diyagram 8">
            <a:extLst>
              <a:ext uri="{FF2B5EF4-FFF2-40B4-BE49-F238E27FC236}">
                <a16:creationId xmlns:a16="http://schemas.microsoft.com/office/drawing/2014/main" id="{161F613A-E55C-4D24-8AA5-1D0F1FF495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2108871"/>
              </p:ext>
            </p:extLst>
          </p:nvPr>
        </p:nvGraphicFramePr>
        <p:xfrm>
          <a:off x="5327118" y="1232922"/>
          <a:ext cx="3403927" cy="2677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hape 0">
            <a:extLst>
              <a:ext uri="{FF2B5EF4-FFF2-40B4-BE49-F238E27FC236}">
                <a16:creationId xmlns:a16="http://schemas.microsoft.com/office/drawing/2014/main" id="{10D99209-A794-9429-36FE-06629071C2AD}"/>
              </a:ext>
            </a:extLst>
          </p:cNvPr>
          <p:cNvSpPr/>
          <p:nvPr/>
        </p:nvSpPr>
        <p:spPr>
          <a:xfrm>
            <a:off x="536841" y="790514"/>
            <a:ext cx="4265234" cy="4235736"/>
          </a:xfrm>
          <a:prstGeom prst="roundRect">
            <a:avLst>
              <a:gd name="adj" fmla="val 6747"/>
            </a:avLst>
          </a:prstGeom>
          <a:solidFill>
            <a:schemeClr val="tx2"/>
          </a:solidFill>
          <a:ln>
            <a:solidFill>
              <a:srgbClr val="252833"/>
            </a:solidFill>
          </a:ln>
        </p:spPr>
        <p:txBody>
          <a:bodyPr/>
          <a:lstStyle/>
          <a:p>
            <a:endParaRPr lang="tr-TR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536108A-E172-443A-4C67-04C7741C53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929" y="929068"/>
            <a:ext cx="4041059" cy="39621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89653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C6127B66-8F44-2CA6-7ED5-AD45707FF4A6}"/>
              </a:ext>
            </a:extLst>
          </p:cNvPr>
          <p:cNvSpPr txBox="1"/>
          <p:nvPr/>
        </p:nvSpPr>
        <p:spPr>
          <a:xfrm>
            <a:off x="436552" y="273716"/>
            <a:ext cx="4855169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4. </a:t>
            </a:r>
            <a:r>
              <a:rPr lang="tr-TR" sz="23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Graph</a:t>
            </a:r>
            <a:r>
              <a:rPr lang="tr-TR" sz="2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tr-TR" sz="23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Coloring</a:t>
            </a:r>
            <a:r>
              <a:rPr lang="tr-TR" sz="2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tr-TR" sz="23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Algorithm</a:t>
            </a:r>
            <a:endParaRPr lang="en-US" sz="2300" dirty="0"/>
          </a:p>
          <a:p>
            <a:endParaRPr lang="tr-TR" dirty="0"/>
          </a:p>
        </p:txBody>
      </p:sp>
      <p:graphicFrame>
        <p:nvGraphicFramePr>
          <p:cNvPr id="7" name="Diyagram 6">
            <a:extLst>
              <a:ext uri="{FF2B5EF4-FFF2-40B4-BE49-F238E27FC236}">
                <a16:creationId xmlns:a16="http://schemas.microsoft.com/office/drawing/2014/main" id="{AB8A4904-536D-859E-F313-911C59EE2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9515893"/>
              </p:ext>
            </p:extLst>
          </p:nvPr>
        </p:nvGraphicFramePr>
        <p:xfrm>
          <a:off x="183035" y="996990"/>
          <a:ext cx="4388966" cy="3545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hape 0">
            <a:extLst>
              <a:ext uri="{FF2B5EF4-FFF2-40B4-BE49-F238E27FC236}">
                <a16:creationId xmlns:a16="http://schemas.microsoft.com/office/drawing/2014/main" id="{C1A6EE1E-55B2-A076-B322-60AF9258EB6C}"/>
              </a:ext>
            </a:extLst>
          </p:cNvPr>
          <p:cNvSpPr/>
          <p:nvPr/>
        </p:nvSpPr>
        <p:spPr>
          <a:xfrm>
            <a:off x="5091144" y="419524"/>
            <a:ext cx="3533714" cy="4443992"/>
          </a:xfrm>
          <a:prstGeom prst="roundRect">
            <a:avLst>
              <a:gd name="adj" fmla="val 674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C7A87766-4A3F-887F-3D75-0AC644E01D8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344661" y="601667"/>
            <a:ext cx="3026679" cy="41223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20467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050" y="359197"/>
            <a:ext cx="973336" cy="224507"/>
          </a:xfrm>
          <a:prstGeom prst="roundRect">
            <a:avLst>
              <a:gd name="adj" fmla="val 6747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729" y="396999"/>
            <a:ext cx="1279178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ROOM ALLOCATION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3050" y="626269"/>
            <a:ext cx="6651799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4. Module Implementation - Room Allocation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73050" y="1263848"/>
            <a:ext cx="19422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Function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3050" y="1555998"/>
            <a:ext cx="4402187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Physical Classroom Assignment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3050" y="1895252"/>
            <a:ext cx="19422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Algorithm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3050" y="2187401"/>
            <a:ext cx="4402187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First-Fit Decreasing (FFD) Bin Packing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3050" y="2526655"/>
            <a:ext cx="2073027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Implementation Details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3050" y="2818805"/>
            <a:ext cx="3944987" cy="93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Sorts courses by student count and rooms by capacity. Places the largest student group into the first room that fits. If a single room isn't enough, it splits the course across multiple rooms.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725" y="1277169"/>
            <a:ext cx="3478485" cy="305864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730725" y="4455616"/>
            <a:ext cx="4402187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392" y="419993"/>
            <a:ext cx="4968329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5. Frontend Implementation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92" y="1233636"/>
            <a:ext cx="5147816" cy="33268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7241" y="1296665"/>
            <a:ext cx="21897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Design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7241" y="1658169"/>
            <a:ext cx="2606055" cy="87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Responsive, color-coded HTML table separating days, time slots, and assigned rooms.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27241" y="2679799"/>
            <a:ext cx="2494285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Integration with Backend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7241" y="3041303"/>
            <a:ext cx="2606055" cy="1470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C++ Frontend module directly parses the final scheduled arrays and writes raw HTML tags into </a:t>
            </a:r>
            <a:r>
              <a:rPr lang="en-US" sz="14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exam_schedule.html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No external web servers are used.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3538" y="377800"/>
            <a:ext cx="4100438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6. Testing and Validation</a:t>
            </a:r>
            <a:endParaRPr lang="en-US" sz="2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3538" y="960760"/>
            <a:ext cx="338956" cy="3389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96085" y="960760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Testing Strategy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396085" y="1233860"/>
            <a:ext cx="4273376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Multi-layered approach using </a:t>
            </a:r>
            <a:r>
              <a:rPr lang="en-US" sz="10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make test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3538" y="1686297"/>
            <a:ext cx="338956" cy="3389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96085" y="1686297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Unit Tests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396085" y="1959397"/>
            <a:ext cx="4273376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Validating core mechanics of custom data structures.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3538" y="2411834"/>
            <a:ext cx="338956" cy="3389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96085" y="2411834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Integration Tests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396085" y="2684934"/>
            <a:ext cx="4273376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Ensuring the JSON → Graph → Output pipeline functions correctly.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3538" y="3137371"/>
            <a:ext cx="338956" cy="3389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96085" y="3137371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Coverage Summary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4396085" y="3410471"/>
            <a:ext cx="4273376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Includes edge cases like </a:t>
            </a:r>
            <a:r>
              <a:rPr lang="en-US" sz="10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"Room Saturation"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(too many students, too few seats) and single-student enrollment handling.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3538" y="4069631"/>
            <a:ext cx="338956" cy="3389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396085" y="4069631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Memory Leak Results</a:t>
            </a:r>
            <a:endParaRPr lang="en-US" sz="1250" dirty="0"/>
          </a:p>
        </p:txBody>
      </p:sp>
      <p:sp>
        <p:nvSpPr>
          <p:cNvPr id="18" name="Text 10"/>
          <p:cNvSpPr/>
          <p:nvPr/>
        </p:nvSpPr>
        <p:spPr>
          <a:xfrm>
            <a:off x="4396085" y="4342730"/>
            <a:ext cx="4273376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Zero memory leaks.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Since smart pointers were banned, all </a:t>
            </a:r>
            <a:r>
              <a:rPr lang="en-US" sz="10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allocations were rigorously tracked and deleted in custom destructors.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538" y="386507"/>
            <a:ext cx="4468490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7. Challenges and Solutions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62475" y="969466"/>
            <a:ext cx="19050" cy="3787527"/>
          </a:xfrm>
          <a:prstGeom prst="roundRect">
            <a:avLst>
              <a:gd name="adj" fmla="val 106761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5488" y="969466"/>
            <a:ext cx="4097462" cy="957709"/>
          </a:xfrm>
          <a:prstGeom prst="roundRect">
            <a:avLst>
              <a:gd name="adj" fmla="val 2124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813694" y="1105049"/>
            <a:ext cx="2603674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Technical Challenges Encountered: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1071" y="1378148"/>
            <a:ext cx="3826297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7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Implementing a collision-resistant HashMap without STL; managing multi-room splits without losing student counts.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91050" y="2172891"/>
            <a:ext cx="4097462" cy="1164431"/>
          </a:xfrm>
          <a:prstGeom prst="rect">
            <a:avLst/>
          </a:prstGeom>
          <a:solidFill>
            <a:srgbClr val="4447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726632" y="2308473"/>
            <a:ext cx="192278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They Were Resolved: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26632" y="2581573"/>
            <a:ext cx="3826297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Engineered custom </a:t>
            </a:r>
            <a:r>
              <a:rPr lang="en-US" sz="10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structures for linked list chaining inside the hash map. Implemented strict capacity subtraction logic during bin packing.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5488" y="3583037"/>
            <a:ext cx="4097462" cy="1173956"/>
          </a:xfrm>
          <a:prstGeom prst="roundRect">
            <a:avLst>
              <a:gd name="adj" fmla="val 1732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822302" y="3718620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Lessons Learned: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1071" y="3991719"/>
            <a:ext cx="3826297" cy="629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7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Deep understanding of manual memory management (</a:t>
            </a:r>
            <a:r>
              <a:rPr lang="en-US" sz="10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/</a:t>
            </a:r>
            <a:r>
              <a:rPr lang="en-US" sz="10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), algorithm space complexities, and pointer manipulation without relying on standard libraries.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985</Words>
  <Application>Microsoft Office PowerPoint</Application>
  <PresentationFormat>Ekran Gösterisi (16:9)</PresentationFormat>
  <Paragraphs>111</Paragraphs>
  <Slides>16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1" baseType="lpstr">
      <vt:lpstr>Source Sans 3</vt:lpstr>
      <vt:lpstr>Lora</vt:lpstr>
      <vt:lpstr>Arial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lastModifiedBy>SERKAN CAN ERDEM</cp:lastModifiedBy>
  <cp:revision>8</cp:revision>
  <dcterms:created xsi:type="dcterms:W3CDTF">2026-06-01T09:58:35Z</dcterms:created>
  <dcterms:modified xsi:type="dcterms:W3CDTF">2026-06-01T14:32:08Z</dcterms:modified>
</cp:coreProperties>
</file>